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3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2924113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350103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22650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132364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8" name="Footer Placeholder 7"/>
          <p:cNvSpPr>
            <a:spLocks noGrp="1"/>
          </p:cNvSpPr>
          <p:nvPr>
            <p:ph type="ftr" sz="quarter" idx="11"/>
          </p:nvPr>
        </p:nvSpPr>
        <p:spPr/>
        <p:txBody>
          <a:bodyPr/>
          <a:lstStyle/>
          <a:p>
            <a:endParaRPr lang="es-AR" dirty="0"/>
          </a:p>
        </p:txBody>
      </p:sp>
      <p:sp>
        <p:nvSpPr>
          <p:cNvPr id="9" name="Slide Number Placeholder 8"/>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3247888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3"/>
          <p:cNvSpPr>
            <a:spLocks noGrp="1"/>
          </p:cNvSpPr>
          <p:nvPr>
            <p:ph type="ftr" sz="quarter" idx="11"/>
          </p:nvPr>
        </p:nvSpPr>
        <p:spPr/>
        <p:txBody>
          <a:bodyPr/>
          <a:lstStyle/>
          <a:p>
            <a:endParaRPr lang="es-AR" dirty="0"/>
          </a:p>
        </p:txBody>
      </p:sp>
      <p:sp>
        <p:nvSpPr>
          <p:cNvPr id="6" name="Slide Number Placeholder 4"/>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3363989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2"/>
          <p:cNvSpPr>
            <a:spLocks noGrp="1"/>
          </p:cNvSpPr>
          <p:nvPr>
            <p:ph type="ftr" sz="quarter" idx="11"/>
          </p:nvPr>
        </p:nvSpPr>
        <p:spPr/>
        <p:txBody>
          <a:bodyPr/>
          <a:lstStyle/>
          <a:p>
            <a:endParaRPr lang="es-AR" dirty="0"/>
          </a:p>
        </p:txBody>
      </p:sp>
      <p:sp>
        <p:nvSpPr>
          <p:cNvPr id="6" name="Slide Number Placeholder 3"/>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3121310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7" name="Date Placeholder 4"/>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5"/>
          <p:cNvSpPr>
            <a:spLocks noGrp="1"/>
          </p:cNvSpPr>
          <p:nvPr>
            <p:ph type="ftr" sz="quarter" idx="11"/>
          </p:nvPr>
        </p:nvSpPr>
        <p:spPr/>
        <p:txBody>
          <a:bodyPr/>
          <a:lstStyle/>
          <a:p>
            <a:endParaRPr lang="es-AR" dirty="0"/>
          </a:p>
        </p:txBody>
      </p:sp>
      <p:sp>
        <p:nvSpPr>
          <p:cNvPr id="6" name="Slide Number Placeholder 6"/>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1886023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2662239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6" name="Footer Placeholder 5"/>
          <p:cNvSpPr>
            <a:spLocks noGrp="1"/>
          </p:cNvSpPr>
          <p:nvPr>
            <p:ph type="ftr" sz="quarter" idx="11"/>
          </p:nvPr>
        </p:nvSpPr>
        <p:spPr/>
        <p:txBody>
          <a:bodyPr/>
          <a:lstStyle/>
          <a:p>
            <a:endParaRPr lang="es-AR" dirty="0"/>
          </a:p>
        </p:txBody>
      </p:sp>
      <p:sp>
        <p:nvSpPr>
          <p:cNvPr id="7" name="Slide Number Placeholder 6"/>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269750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4187558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1707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73136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4"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1259326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4"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2514085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31615857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9AF2F0-3C0C-4421-93BE-55CA81A1370B}" type="datetimeFigureOut">
              <a:rPr lang="es-AR" smtClean="0"/>
              <a:t>28/10/2026</a:t>
            </a:fld>
            <a:endParaRPr lang="es-AR" dirty="0"/>
          </a:p>
        </p:txBody>
      </p:sp>
      <p:sp>
        <p:nvSpPr>
          <p:cNvPr id="5" name="Footer Placeholder 4"/>
          <p:cNvSpPr>
            <a:spLocks noGrp="1"/>
          </p:cNvSpPr>
          <p:nvPr>
            <p:ph type="ftr" sz="quarter" idx="11"/>
          </p:nvPr>
        </p:nvSpPr>
        <p:spPr/>
        <p:txBody>
          <a:bodyPr/>
          <a:lstStyle/>
          <a:p>
            <a:endParaRPr lang="es-AR" dirty="0"/>
          </a:p>
        </p:txBody>
      </p:sp>
      <p:sp>
        <p:nvSpPr>
          <p:cNvPr id="6" name="Slide Number Placeholder 5"/>
          <p:cNvSpPr>
            <a:spLocks noGrp="1"/>
          </p:cNvSpPr>
          <p:nvPr>
            <p:ph type="sldNum" sz="quarter" idx="12"/>
          </p:nvPr>
        </p:nvSpPr>
        <p:spPr/>
        <p:txBody>
          <a:bodyPr/>
          <a:lstStyle/>
          <a:p>
            <a:fld id="{4C220BDC-D095-42B2-AC17-C9199D536837}" type="slidenum">
              <a:rPr lang="es-AR" smtClean="0"/>
              <a:t>‹Nº›</a:t>
            </a:fld>
            <a:endParaRPr lang="es-AR" dirty="0"/>
          </a:p>
        </p:txBody>
      </p:sp>
    </p:spTree>
    <p:extLst>
      <p:ext uri="{BB962C8B-B14F-4D97-AF65-F5344CB8AC3E}">
        <p14:creationId xmlns:p14="http://schemas.microsoft.com/office/powerpoint/2010/main" val="130199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9AF2F0-3C0C-4421-93BE-55CA81A1370B}" type="datetimeFigureOut">
              <a:rPr lang="es-AR" smtClean="0"/>
              <a:t>28/10/2026</a:t>
            </a:fld>
            <a:endParaRPr lang="es-AR"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AR"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C220BDC-D095-42B2-AC17-C9199D536837}" type="slidenum">
              <a:rPr lang="es-AR" smtClean="0"/>
              <a:t>‹Nº›</a:t>
            </a:fld>
            <a:endParaRPr lang="es-AR" dirty="0"/>
          </a:p>
        </p:txBody>
      </p:sp>
    </p:spTree>
    <p:extLst>
      <p:ext uri="{BB962C8B-B14F-4D97-AF65-F5344CB8AC3E}">
        <p14:creationId xmlns:p14="http://schemas.microsoft.com/office/powerpoint/2010/main" val="288214440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opal.google/app/1uYbsk2uJllv4f5yzjj1YmuEn1-HUEf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dirty="0" smtClean="0"/>
              <a:t>AGENTE BIBLIOTECARIO IA</a:t>
            </a:r>
            <a:endParaRPr lang="es-AR" dirty="0"/>
          </a:p>
        </p:txBody>
      </p:sp>
      <p:sp>
        <p:nvSpPr>
          <p:cNvPr id="3" name="Subtítulo 2"/>
          <p:cNvSpPr>
            <a:spLocks noGrp="1"/>
          </p:cNvSpPr>
          <p:nvPr>
            <p:ph type="subTitle" idx="1"/>
          </p:nvPr>
        </p:nvSpPr>
        <p:spPr/>
        <p:txBody>
          <a:bodyPr/>
          <a:lstStyle/>
          <a:p>
            <a:r>
              <a:rPr lang="es-AR" dirty="0" smtClean="0"/>
              <a:t>ASISTE A BIBLIOTECARIO EN UNA BIBLIOTECA REAL</a:t>
            </a:r>
            <a:endParaRPr lang="es-AR" dirty="0"/>
          </a:p>
        </p:txBody>
      </p:sp>
    </p:spTree>
    <p:extLst>
      <p:ext uri="{BB962C8B-B14F-4D97-AF65-F5344CB8AC3E}">
        <p14:creationId xmlns:p14="http://schemas.microsoft.com/office/powerpoint/2010/main" val="63200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AVANCE DEL PROYECTO POR ETAPAS Y CLASES</a:t>
            </a:r>
            <a:endParaRPr lang="es-AR" dirty="0"/>
          </a:p>
        </p:txBody>
      </p:sp>
      <p:sp>
        <p:nvSpPr>
          <p:cNvPr id="3" name="Marcador de contenido 2"/>
          <p:cNvSpPr>
            <a:spLocks noGrp="1"/>
          </p:cNvSpPr>
          <p:nvPr>
            <p:ph idx="1"/>
          </p:nvPr>
        </p:nvSpPr>
        <p:spPr>
          <a:xfrm>
            <a:off x="1104293" y="2052918"/>
            <a:ext cx="8946541" cy="4195481"/>
          </a:xfrm>
        </p:spPr>
        <p:txBody>
          <a:bodyPr/>
          <a:lstStyle/>
          <a:p>
            <a:pPr algn="just"/>
            <a:r>
              <a:rPr lang="es-AR" dirty="0" smtClean="0"/>
              <a:t>A continuación </a:t>
            </a:r>
            <a:r>
              <a:rPr lang="es-AR" dirty="0"/>
              <a:t>se irá desglosando el avance del proyecto </a:t>
            </a:r>
            <a:r>
              <a:rPr lang="es-AR" dirty="0" smtClean="0"/>
              <a:t>conforme avanzan las clases del Segundo Cuatrimestre de la materia Sistemas y Organizaciones </a:t>
            </a:r>
          </a:p>
          <a:p>
            <a:pPr algn="just"/>
            <a:r>
              <a:rPr lang="es-AR" dirty="0" smtClean="0">
                <a:hlinkClick r:id="rId2" action="ppaction://hlinksldjump"/>
              </a:rPr>
              <a:t>Clase 12.</a:t>
            </a:r>
            <a:r>
              <a:rPr lang="es-AR" dirty="0" smtClean="0"/>
              <a:t>  </a:t>
            </a:r>
          </a:p>
          <a:p>
            <a:pPr algn="just"/>
            <a:r>
              <a:rPr lang="es-AR" dirty="0" smtClean="0">
                <a:hlinkClick r:id="rId3" action="ppaction://hlinksldjump"/>
              </a:rPr>
              <a:t>Clase 13.</a:t>
            </a:r>
            <a:r>
              <a:rPr lang="es-AR" dirty="0" smtClean="0"/>
              <a:t>  </a:t>
            </a:r>
          </a:p>
          <a:p>
            <a:pPr algn="just"/>
            <a:r>
              <a:rPr lang="es-AR" dirty="0" smtClean="0">
                <a:hlinkClick r:id="rId4" action="ppaction://hlinksldjump"/>
              </a:rPr>
              <a:t>Del modelo al prototipo.</a:t>
            </a:r>
            <a:endParaRPr lang="es-AR" dirty="0" smtClean="0"/>
          </a:p>
          <a:p>
            <a:pPr algn="just"/>
            <a:r>
              <a:rPr lang="es-ES" dirty="0" smtClean="0">
                <a:hlinkClick r:id="rId5" action="ppaction://hlinksldjump"/>
              </a:rPr>
              <a:t>Clase 25-09, 02-10, y 09-10</a:t>
            </a:r>
            <a:endParaRPr lang="es-AR" dirty="0"/>
          </a:p>
        </p:txBody>
      </p:sp>
    </p:spTree>
    <p:extLst>
      <p:ext uri="{BB962C8B-B14F-4D97-AF65-F5344CB8AC3E}">
        <p14:creationId xmlns:p14="http://schemas.microsoft.com/office/powerpoint/2010/main" val="1630526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b="1" dirty="0"/>
              <a:t>Clase 12</a:t>
            </a:r>
            <a:r>
              <a:rPr lang="es-AR" dirty="0" smtClean="0"/>
              <a:t/>
            </a:r>
            <a:br>
              <a:rPr lang="es-AR" dirty="0" smtClean="0"/>
            </a:br>
            <a:r>
              <a:rPr lang="en-US" b="1" dirty="0"/>
              <a:t>Del </a:t>
            </a:r>
            <a:r>
              <a:rPr lang="en-US" b="1" dirty="0" smtClean="0"/>
              <a:t>Sistema </a:t>
            </a:r>
            <a:r>
              <a:rPr lang="en-US" b="1" dirty="0"/>
              <a:t>al agente de IA</a:t>
            </a:r>
            <a:br>
              <a:rPr lang="en-US" b="1" dirty="0"/>
            </a:br>
            <a:endParaRPr lang="es-AR" dirty="0"/>
          </a:p>
        </p:txBody>
      </p:sp>
      <p:sp>
        <p:nvSpPr>
          <p:cNvPr id="3" name="Marcador de contenido 2"/>
          <p:cNvSpPr>
            <a:spLocks noGrp="1"/>
          </p:cNvSpPr>
          <p:nvPr>
            <p:ph idx="1"/>
          </p:nvPr>
        </p:nvSpPr>
        <p:spPr/>
        <p:txBody>
          <a:bodyPr>
            <a:normAutofit fontScale="77500" lnSpcReduction="20000"/>
          </a:bodyPr>
          <a:lstStyle/>
          <a:p>
            <a:pPr lvl="0"/>
            <a:r>
              <a:rPr lang="es-AR" b="1" dirty="0"/>
              <a:t>Elegí una situación, no una herramienta.</a:t>
            </a:r>
            <a:r>
              <a:rPr lang="es-AR" dirty="0"/>
              <a:t> Describí quién experimenta el problema, dónde ocurre y qué evidencia permite reconocerlo.</a:t>
            </a:r>
            <a:endParaRPr lang="en-US" dirty="0"/>
          </a:p>
          <a:p>
            <a:pPr lvl="0"/>
            <a:r>
              <a:rPr lang="es-AR" b="1" dirty="0" smtClean="0"/>
              <a:t>Redacta </a:t>
            </a:r>
            <a:r>
              <a:rPr lang="es-AR" b="1" dirty="0"/>
              <a:t>un objetivo verificable.</a:t>
            </a:r>
            <a:r>
              <a:rPr lang="es-AR" dirty="0"/>
              <a:t> </a:t>
            </a:r>
            <a:r>
              <a:rPr lang="es-AR" dirty="0" smtClean="0"/>
              <a:t>Indica </a:t>
            </a:r>
            <a:r>
              <a:rPr lang="es-AR" dirty="0"/>
              <a:t>qué transformación debería producir el sistema y qué acciones quedan prohibidas o fuera de alcance.</a:t>
            </a:r>
            <a:endParaRPr lang="en-US" dirty="0"/>
          </a:p>
          <a:p>
            <a:pPr lvl="0"/>
            <a:r>
              <a:rPr lang="es-AR" b="1" dirty="0"/>
              <a:t>Dibujá una frontera discutible.</a:t>
            </a:r>
            <a:r>
              <a:rPr lang="es-AR" dirty="0"/>
              <a:t> </a:t>
            </a:r>
            <a:r>
              <a:rPr lang="es-AR" dirty="0"/>
              <a:t>Enumerá</a:t>
            </a:r>
            <a:r>
              <a:rPr lang="es-AR" dirty="0"/>
              <a:t> lo interno, lo externo y al menos una decisión de área gris. </a:t>
            </a:r>
            <a:r>
              <a:rPr lang="en-US" dirty="0"/>
              <a:t>Explicá</a:t>
            </a:r>
            <a:r>
              <a:rPr lang="en-US" dirty="0"/>
              <a:t> </a:t>
            </a:r>
            <a:r>
              <a:rPr lang="en-US" dirty="0"/>
              <a:t>qué</a:t>
            </a:r>
            <a:r>
              <a:rPr lang="en-US" dirty="0"/>
              <a:t> cambia </a:t>
            </a:r>
            <a:r>
              <a:rPr lang="en-US" dirty="0"/>
              <a:t>si</a:t>
            </a:r>
            <a:r>
              <a:rPr lang="en-US" dirty="0"/>
              <a:t> </a:t>
            </a:r>
            <a:r>
              <a:rPr lang="en-US" dirty="0"/>
              <a:t>movés</a:t>
            </a:r>
            <a:r>
              <a:rPr lang="en-US" dirty="0"/>
              <a:t> ese </a:t>
            </a:r>
            <a:r>
              <a:rPr lang="en-US" dirty="0"/>
              <a:t>límite</a:t>
            </a:r>
            <a:r>
              <a:rPr lang="en-US" dirty="0"/>
              <a:t>.</a:t>
            </a:r>
          </a:p>
          <a:p>
            <a:pPr lvl="0"/>
            <a:r>
              <a:rPr lang="es-AR" b="1" dirty="0"/>
              <a:t>Buscá</a:t>
            </a:r>
            <a:r>
              <a:rPr lang="es-AR" b="1" dirty="0"/>
              <a:t> relaciones, no solo componentes.</a:t>
            </a:r>
            <a:r>
              <a:rPr lang="es-AR" dirty="0"/>
              <a:t> </a:t>
            </a:r>
            <a:r>
              <a:rPr lang="es-AR" dirty="0"/>
              <a:t>Mostrá</a:t>
            </a:r>
            <a:r>
              <a:rPr lang="es-AR" dirty="0"/>
              <a:t> al menos un efecto sinérgico y dos niveles recursivos.</a:t>
            </a:r>
            <a:endParaRPr lang="en-US" dirty="0"/>
          </a:p>
          <a:p>
            <a:pPr lvl="0"/>
            <a:r>
              <a:rPr lang="es-AR" b="1" dirty="0"/>
              <a:t>Representá</a:t>
            </a:r>
            <a:r>
              <a:rPr lang="es-AR" b="1" dirty="0"/>
              <a:t> el intercambio.</a:t>
            </a:r>
            <a:r>
              <a:rPr lang="es-AR" dirty="0"/>
              <a:t> Incluí entradas, conversión, salidas, retroalimentación y un mínimo de tres perturbaciones.</a:t>
            </a:r>
            <a:endParaRPr lang="en-US" dirty="0"/>
          </a:p>
          <a:p>
            <a:pPr lvl="0"/>
            <a:r>
              <a:rPr lang="es-AR" b="1" dirty="0"/>
              <a:t>Definí control y derivación.</a:t>
            </a:r>
            <a:r>
              <a:rPr lang="es-AR" dirty="0"/>
              <a:t> </a:t>
            </a:r>
            <a:r>
              <a:rPr lang="es-AR" dirty="0"/>
              <a:t>Explicá</a:t>
            </a:r>
            <a:r>
              <a:rPr lang="es-AR" dirty="0"/>
              <a:t> cómo se detecta un error, quién puede validar y cuándo debe intervenir una persona.</a:t>
            </a:r>
            <a:endParaRPr lang="en-US" dirty="0"/>
          </a:p>
          <a:p>
            <a:pPr lvl="0"/>
            <a:r>
              <a:rPr lang="es-AR" b="1" dirty="0"/>
              <a:t>Fundamentá</a:t>
            </a:r>
            <a:r>
              <a:rPr lang="es-AR" b="1" dirty="0"/>
              <a:t> con </a:t>
            </a:r>
            <a:r>
              <a:rPr lang="es-AR" b="1" dirty="0"/>
              <a:t>Lorenzón</a:t>
            </a:r>
            <a:r>
              <a:rPr lang="es-AR" b="1" dirty="0"/>
              <a:t>.</a:t>
            </a:r>
            <a:r>
              <a:rPr lang="es-AR" dirty="0"/>
              <a:t> </a:t>
            </a:r>
            <a:r>
              <a:rPr lang="es-AR" dirty="0"/>
              <a:t>Relacioná</a:t>
            </a:r>
            <a:r>
              <a:rPr lang="es-AR" dirty="0"/>
              <a:t> al menos una decisión propia con cada capítulo 7, 8 y 9. </a:t>
            </a:r>
            <a:r>
              <a:rPr lang="en-US" dirty="0"/>
              <a:t>No </a:t>
            </a:r>
            <a:r>
              <a:rPr lang="en-US" dirty="0"/>
              <a:t>alcanza</a:t>
            </a:r>
            <a:r>
              <a:rPr lang="en-US" dirty="0"/>
              <a:t> con </a:t>
            </a:r>
            <a:r>
              <a:rPr lang="en-US" dirty="0"/>
              <a:t>definir</a:t>
            </a:r>
            <a:r>
              <a:rPr lang="en-US" dirty="0"/>
              <a:t> </a:t>
            </a:r>
            <a:r>
              <a:rPr lang="en-US" dirty="0"/>
              <a:t>términos</a:t>
            </a:r>
            <a:r>
              <a:rPr lang="en-US" dirty="0"/>
              <a:t>.</a:t>
            </a:r>
          </a:p>
          <a:p>
            <a:pPr lvl="0"/>
            <a:r>
              <a:rPr lang="es-AR" b="1" dirty="0"/>
              <a:t>Dejá</a:t>
            </a:r>
            <a:r>
              <a:rPr lang="es-AR" b="1" dirty="0"/>
              <a:t> preguntas abiertas.</a:t>
            </a:r>
            <a:r>
              <a:rPr lang="es-AR" dirty="0"/>
              <a:t> </a:t>
            </a:r>
            <a:r>
              <a:rPr lang="es-AR" dirty="0"/>
              <a:t>Cerrá</a:t>
            </a:r>
            <a:r>
              <a:rPr lang="es-AR" dirty="0"/>
              <a:t> con cinco aspectos por investigar antes de diseñar el agente.</a:t>
            </a:r>
            <a:endParaRPr lang="en-US" dirty="0"/>
          </a:p>
        </p:txBody>
      </p:sp>
    </p:spTree>
    <p:extLst>
      <p:ext uri="{BB962C8B-B14F-4D97-AF65-F5344CB8AC3E}">
        <p14:creationId xmlns:p14="http://schemas.microsoft.com/office/powerpoint/2010/main" val="3783137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i="1" dirty="0"/>
              <a:t>Modelo:</a:t>
            </a:r>
            <a:r>
              <a:rPr lang="es-AR" dirty="0"/>
              <a:t> </a:t>
            </a:r>
            <a:r>
              <a:rPr lang="es-AR" b="1" i="1" dirty="0"/>
              <a:t>Agente de Asistencia de Biblioteca Estudiantil</a:t>
            </a:r>
            <a:endParaRPr lang="en-US" dirty="0"/>
          </a:p>
        </p:txBody>
      </p:sp>
      <p:sp>
        <p:nvSpPr>
          <p:cNvPr id="3" name="Marcador de contenido 2"/>
          <p:cNvSpPr>
            <a:spLocks noGrp="1"/>
          </p:cNvSpPr>
          <p:nvPr>
            <p:ph idx="1"/>
          </p:nvPr>
        </p:nvSpPr>
        <p:spPr/>
        <p:txBody>
          <a:bodyPr>
            <a:normAutofit fontScale="70000" lnSpcReduction="20000"/>
          </a:bodyPr>
          <a:lstStyle/>
          <a:p>
            <a:r>
              <a:rPr lang="es-AR" b="1" i="1" dirty="0"/>
              <a:t>Este modelo asistirá al regente o persona que se encuentre en el turno que fuere, de esta manera aliviaría las consultas en persona, al menos que se genere un inconveniente.</a:t>
            </a:r>
            <a:endParaRPr lang="en-US" dirty="0"/>
          </a:p>
          <a:p>
            <a:pPr lvl="0"/>
            <a:r>
              <a:rPr lang="es-AR" b="1" dirty="0"/>
              <a:t>Problema</a:t>
            </a:r>
            <a:r>
              <a:rPr lang="es-AR" dirty="0"/>
              <a:t>: La verificación manual de disponibilidad, estado físico, reservas previas y habilitación del alumno genera demoras en atención y posibles errores en la entrega de ejemplare.</a:t>
            </a:r>
            <a:endParaRPr lang="en-US" dirty="0"/>
          </a:p>
          <a:p>
            <a:pPr lvl="0"/>
            <a:r>
              <a:rPr lang="es-AR" b="1" dirty="0"/>
              <a:t>Objetivo</a:t>
            </a:r>
            <a:r>
              <a:rPr lang="es-AR" dirty="0"/>
              <a:t>: Informar al usuario como así también si el bibliotecario lo requiere sobre la disponibilidad inmediata, estado físico, si el libro posee reservas y en el caso del alumno con autorización mediante el uso de una API el estado de habilitación y permisos del alumno. ¿Qué acción no puede realizar el agente? No puede dar de alta a un usuario, actualizar datos de ejemplares (estado del libro, estado de reservas, agregar o eliminar libros), ya que esas no son las tareas del asistente y nunca tendría esos permisos.</a:t>
            </a:r>
            <a:endParaRPr lang="en-US" dirty="0"/>
          </a:p>
          <a:p>
            <a:pPr lvl="0"/>
            <a:r>
              <a:rPr lang="es-AR" dirty="0"/>
              <a:t>Definiendo </a:t>
            </a:r>
            <a:r>
              <a:rPr lang="es-AR" b="1" dirty="0"/>
              <a:t>Frontera:</a:t>
            </a:r>
            <a:r>
              <a:rPr lang="es-AR" dirty="0"/>
              <a:t> </a:t>
            </a:r>
            <a:r>
              <a:rPr lang="es-AR" b="1" dirty="0"/>
              <a:t>Dentro</a:t>
            </a:r>
            <a:r>
              <a:rPr lang="es-AR" dirty="0"/>
              <a:t> se encuentra la interfaz, el acceso a las instrucciones, a la reglamentación y bases de la biblioteca, el generador de respuestas y orientador de sugerencias.</a:t>
            </a:r>
            <a:br>
              <a:rPr lang="es-AR" dirty="0"/>
            </a:br>
            <a:r>
              <a:rPr lang="es-AR" b="1" dirty="0"/>
              <a:t>Fuera</a:t>
            </a:r>
            <a:r>
              <a:rPr lang="es-AR" dirty="0"/>
              <a:t>: Sistema General de la Biblioteca: este posee la base de datos y todo lo referido a las bases y condiciones. Los directivos o regentes, los libros físicos.</a:t>
            </a:r>
            <a:br>
              <a:rPr lang="es-AR" dirty="0"/>
            </a:br>
            <a:r>
              <a:rPr lang="es-AR" b="1" dirty="0"/>
              <a:t>Área gris</a:t>
            </a:r>
            <a:r>
              <a:rPr lang="es-AR" dirty="0"/>
              <a:t>: Historial de entregas (Si muevo este límite afecta la privacidad de usuarios)</a:t>
            </a:r>
            <a:br>
              <a:rPr lang="es-AR" dirty="0"/>
            </a:br>
            <a:r>
              <a:rPr lang="es-AR" dirty="0"/>
              <a:t>Datos de usuarios (alta, baja, deuda)</a:t>
            </a:r>
            <a:endParaRPr lang="en-US" dirty="0"/>
          </a:p>
        </p:txBody>
      </p:sp>
    </p:spTree>
    <p:extLst>
      <p:ext uri="{BB962C8B-B14F-4D97-AF65-F5344CB8AC3E}">
        <p14:creationId xmlns:p14="http://schemas.microsoft.com/office/powerpoint/2010/main" val="186097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072896" y="256032"/>
            <a:ext cx="8976957" cy="5992367"/>
          </a:xfrm>
        </p:spPr>
        <p:txBody>
          <a:bodyPr/>
          <a:lstStyle/>
          <a:p>
            <a:r>
              <a:rPr lang="es-AR" b="1" dirty="0"/>
              <a:t>Sinergia: </a:t>
            </a:r>
            <a:r>
              <a:rPr lang="es-AR" dirty="0"/>
              <a:t>La base de datos, la IA, motor de búsqueda, chat.</a:t>
            </a:r>
            <a:br>
              <a:rPr lang="es-AR" dirty="0"/>
            </a:br>
            <a:r>
              <a:rPr lang="es-AR" dirty="0"/>
              <a:t>La IA interpreta una pregunta por el chat, que es gestionada por el motor de búsqueda quien realiza una búsqueda en la base de datos de otro Sistema externo.</a:t>
            </a:r>
            <a:br>
              <a:rPr lang="es-AR" dirty="0"/>
            </a:br>
            <a:r>
              <a:rPr lang="es-AR" b="1" dirty="0"/>
              <a:t>Recursividad: </a:t>
            </a:r>
            <a:r>
              <a:rPr lang="es-AR" dirty="0"/>
              <a:t>El sistema de asistencia IA forma parte de un sistema de un Sistema General de la biblioteca.</a:t>
            </a:r>
            <a:br>
              <a:rPr lang="es-AR" dirty="0"/>
            </a:br>
            <a:r>
              <a:rPr lang="es-AR" dirty="0"/>
              <a:t>Se ve de la siguiente manera</a:t>
            </a:r>
            <a:r>
              <a:rPr lang="es-AR" dirty="0" smtClean="0"/>
              <a:t>:</a:t>
            </a:r>
          </a:p>
          <a:p>
            <a:endParaRPr lang="es-AR" dirty="0"/>
          </a:p>
        </p:txBody>
      </p:sp>
      <p:pic>
        <p:nvPicPr>
          <p:cNvPr id="13" name="Imagen 12"/>
          <p:cNvPicPr>
            <a:picLocks noChangeAspect="1"/>
          </p:cNvPicPr>
          <p:nvPr/>
        </p:nvPicPr>
        <p:blipFill>
          <a:blip r:embed="rId2"/>
          <a:stretch>
            <a:fillRect/>
          </a:stretch>
        </p:blipFill>
        <p:spPr>
          <a:xfrm>
            <a:off x="3256002" y="2457930"/>
            <a:ext cx="4610743" cy="4039164"/>
          </a:xfrm>
          <a:prstGeom prst="rect">
            <a:avLst/>
          </a:prstGeom>
        </p:spPr>
      </p:pic>
    </p:spTree>
    <p:extLst>
      <p:ext uri="{BB962C8B-B14F-4D97-AF65-F5344CB8AC3E}">
        <p14:creationId xmlns:p14="http://schemas.microsoft.com/office/powerpoint/2010/main" val="2526829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048512" y="109728"/>
            <a:ext cx="9001341" cy="6138671"/>
          </a:xfrm>
        </p:spPr>
        <p:txBody>
          <a:bodyPr>
            <a:normAutofit fontScale="25000" lnSpcReduction="20000"/>
          </a:bodyPr>
          <a:lstStyle/>
          <a:p>
            <a:pPr lvl="0"/>
            <a:r>
              <a:rPr lang="es-AR" sz="5600" dirty="0"/>
              <a:t>DEFICIÓN DEL INTERCAMBIO:</a:t>
            </a:r>
            <a:br>
              <a:rPr lang="es-AR" sz="5600" dirty="0"/>
            </a:br>
            <a:r>
              <a:rPr lang="es-AR" sz="5600" b="1" dirty="0"/>
              <a:t>ENTRADA: </a:t>
            </a:r>
            <a:r>
              <a:rPr lang="es-AR" sz="5600" dirty="0"/>
              <a:t>SOLICITUD Y/O CONSULTA DE USUARIO </a:t>
            </a:r>
            <a:r>
              <a:rPr lang="es-AR" sz="5600" dirty="0">
                <a:sym typeface="Wingdings" panose="05000000000000000000" pitchFamily="2" charset="2"/>
              </a:rPr>
              <a:t></a:t>
            </a:r>
            <a:r>
              <a:rPr lang="es-AR" sz="5600" dirty="0"/>
              <a:t> </a:t>
            </a:r>
            <a:r>
              <a:rPr lang="es-AR" sz="5600" b="1" dirty="0"/>
              <a:t>CONVERSIÓN</a:t>
            </a:r>
            <a:r>
              <a:rPr lang="es-AR" sz="5600" dirty="0"/>
              <a:t>: PROCESO EN MOTOR DE BUSQUEDA Y BASE DE DATOS </a:t>
            </a:r>
            <a:r>
              <a:rPr lang="es-AR" sz="5600" dirty="0">
                <a:sym typeface="Wingdings" panose="05000000000000000000" pitchFamily="2" charset="2"/>
              </a:rPr>
              <a:t></a:t>
            </a:r>
            <a:r>
              <a:rPr lang="es-AR" sz="5600" dirty="0"/>
              <a:t> </a:t>
            </a:r>
            <a:r>
              <a:rPr lang="es-AR" sz="5600" b="1" dirty="0"/>
              <a:t>SALIDA</a:t>
            </a:r>
            <a:r>
              <a:rPr lang="es-AR" sz="5600" dirty="0"/>
              <a:t>: DEVOLUCIÓN DE DATOS (RESULTADO DE LA BUSQUEDA) </a:t>
            </a:r>
            <a:r>
              <a:rPr lang="es-AR" sz="5600" dirty="0">
                <a:sym typeface="Wingdings" panose="05000000000000000000" pitchFamily="2" charset="2"/>
              </a:rPr>
              <a:t></a:t>
            </a:r>
            <a:r>
              <a:rPr lang="es-AR" sz="5600" dirty="0"/>
              <a:t> </a:t>
            </a:r>
            <a:r>
              <a:rPr lang="es-AR" sz="5600" b="1" dirty="0"/>
              <a:t>RETROALIMENTACION: </a:t>
            </a:r>
            <a:r>
              <a:rPr lang="es-AR" sz="5600" dirty="0"/>
              <a:t>FEEDBACK DEL USUARIO (“FUE ÚTIL UTILIZAR LA HERRAMIENTA, O PUNTUACIÓN EN ESTRELLAS) </a:t>
            </a:r>
            <a:r>
              <a:rPr lang="es-AR" sz="5600" dirty="0">
                <a:sym typeface="Wingdings" panose="05000000000000000000" pitchFamily="2" charset="2"/>
              </a:rPr>
              <a:t></a:t>
            </a:r>
            <a:r>
              <a:rPr lang="es-AR" sz="5600" dirty="0"/>
              <a:t> </a:t>
            </a:r>
            <a:r>
              <a:rPr lang="es-AR" sz="5600" b="1" dirty="0"/>
              <a:t>PERTURBACIONES:</a:t>
            </a:r>
            <a:r>
              <a:rPr lang="es-AR" sz="5600" dirty="0"/>
              <a:t> 1- QUE EL USUARIO REALICE UNA CONSULTA QUE ESTE FUERA DE LOS PARAMETROS DE CONSULTA. 2- QUE NO HAYA SERVICIO DE INTERNET. 3- QUE LA BASE DE DATOS SE ENCUENTRE DESACTUALIZADA.</a:t>
            </a:r>
            <a:endParaRPr lang="en-US" sz="5600" dirty="0"/>
          </a:p>
          <a:p>
            <a:pPr lvl="0"/>
            <a:r>
              <a:rPr lang="es-AR" sz="5600" b="1" dirty="0"/>
              <a:t>CONTROL Y DERIVACIÓN:</a:t>
            </a:r>
            <a:r>
              <a:rPr lang="es-AR" sz="5600" dirty="0"/>
              <a:t> SI OCURRE ALGUNA DE LAS PERTURBACIONES ANTERIORES EL SISTEMA DERIVARA DE LA SIGUIENTE MANERA AL USUARIO: </a:t>
            </a:r>
            <a:r>
              <a:rPr lang="es-AR" sz="5600" i="1" dirty="0"/>
              <a:t>“EL SISTEMA NO PUEDE VERIFICAR LA DISPONIBILIDAD EN ESTE MOMENTO. POR FAVOR ACERCATE A UN RESPONSABLE A CARGO DE LA BIBLIOTECA”.</a:t>
            </a:r>
            <a:endParaRPr lang="en-US" sz="5600" dirty="0"/>
          </a:p>
          <a:p>
            <a:pPr lvl="0"/>
            <a:r>
              <a:rPr lang="es-AR" sz="5600" b="1" dirty="0"/>
              <a:t>FUNDAMENTACIÓN TEORICA CON LORENZON:</a:t>
            </a:r>
            <a:br>
              <a:rPr lang="es-AR" sz="5600" b="1" dirty="0"/>
            </a:br>
            <a:r>
              <a:rPr lang="es-AR" sz="5600" dirty="0"/>
              <a:t>DENTRO DE LA FRONTERA DEFINI TODOS LOS COMPONENTES DIGITALES DEL ASISTENTE (IA, MOTOR DE BUSQUEDA, INTERFAZ GRÁFICA). LOS LIBROS FÍSICOS Y USUARIOS SE UBICAN EN EL CONTEXTO.</a:t>
            </a:r>
            <a:br>
              <a:rPr lang="es-AR" sz="5600" dirty="0"/>
            </a:br>
            <a:r>
              <a:rPr lang="es-AR" sz="5600" dirty="0"/>
              <a:t>EL AREA GRIS LA DEFINÍ COMO HISTORIAL DE ENTREGAS, CONSULTA DE USUARIOS (SI SE ENCUENTRA DE ALTA, HISTORIAL) ESTOS DATOS SERAN SERVIDOS SOLO SI SE AUTORIZA, A TRAVEZ DE UNA API DEL SISTEMA GENERAL DE LA BIBLIOTECA, YA QUE TANTO EL HISTORIAL COMO LOS DATOS DEL USUARIO SON AJENOS AL SISTEMA DE ASISTENCIA. SI BIEN ESTO ENCARECE LOS COSTOS, PERO NOS SERVIMOS DE UN SISTEMA AUTOMATIZADO.</a:t>
            </a:r>
            <a:endParaRPr lang="en-US" sz="5600" dirty="0"/>
          </a:p>
          <a:p>
            <a:r>
              <a:rPr lang="es-AR" sz="5600" b="1" dirty="0"/>
              <a:t>CAPITULO 8 –</a:t>
            </a:r>
            <a:r>
              <a:rPr lang="es-AR" sz="5600" dirty="0"/>
              <a:t> SINERGÍA Y RECURSIVIDAD</a:t>
            </a:r>
            <a:br>
              <a:rPr lang="es-AR" sz="5600" dirty="0"/>
            </a:br>
            <a:r>
              <a:rPr lang="es-AR" sz="5600" dirty="0"/>
              <a:t>SINERGÍA: SE TRATA DE LA MISMA CUANDO SE DA LA COORDINACIÓN DEL ESTADO DEL EJEMPLAR CON LAS REGLAS Y LA SITUACIÓN DEL ALUMNO.</a:t>
            </a:r>
            <a:endParaRPr lang="en-US" sz="5600" dirty="0"/>
          </a:p>
          <a:p>
            <a:r>
              <a:rPr lang="es-AR" sz="5600" dirty="0"/>
              <a:t>RECURSIVIDAD: EL AGENTE ESTÁ COMPUESTO POR LOS SUBSISTEMAS DE INTERFAZ, PROCESADOR DE LENGUAJE Y BUSCADOR.</a:t>
            </a:r>
            <a:endParaRPr lang="en-US" sz="5600" dirty="0"/>
          </a:p>
          <a:p>
            <a:r>
              <a:rPr lang="es-AR" sz="5600" dirty="0"/>
              <a:t> </a:t>
            </a:r>
            <a:endParaRPr lang="en-US" sz="5600" dirty="0"/>
          </a:p>
          <a:p>
            <a:r>
              <a:rPr lang="es-AR" sz="5600" b="1" dirty="0"/>
              <a:t>CAPITULO 9 – </a:t>
            </a:r>
            <a:r>
              <a:rPr lang="es-AR" sz="5600" dirty="0"/>
              <a:t>SISTEMA ABIERTO, CONTROL Y PERTURBACIONES</a:t>
            </a:r>
            <a:br>
              <a:rPr lang="es-AR" sz="5600" dirty="0"/>
            </a:br>
            <a:r>
              <a:rPr lang="es-AR" sz="5600" dirty="0"/>
              <a:t>EL AGENTE ESPERA COMO UN SISTEMA ABIERTO QUE TRANSFORMA ENTRADA EN SALIDAS ESTRUCTURADAS, INCORPORANDO CONTROLES Y DERIVACIONES</a:t>
            </a:r>
            <a:r>
              <a:rPr lang="es-AR" sz="5600" dirty="0" smtClean="0"/>
              <a:t>.</a:t>
            </a:r>
            <a:endParaRPr lang="en-US" sz="5600" dirty="0"/>
          </a:p>
        </p:txBody>
      </p:sp>
    </p:spTree>
    <p:extLst>
      <p:ext uri="{BB962C8B-B14F-4D97-AF65-F5344CB8AC3E}">
        <p14:creationId xmlns:p14="http://schemas.microsoft.com/office/powerpoint/2010/main" val="1477002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133856" y="292608"/>
            <a:ext cx="8915997" cy="5955791"/>
          </a:xfrm>
        </p:spPr>
        <p:txBody>
          <a:bodyPr>
            <a:normAutofit fontScale="77500" lnSpcReduction="20000"/>
          </a:bodyPr>
          <a:lstStyle/>
          <a:p>
            <a:r>
              <a:rPr lang="es-AR" b="1" dirty="0"/>
              <a:t>ENTRADA: DNI ALUMNO, TITULO LIBRO O AUTOR.</a:t>
            </a:r>
            <a:endParaRPr lang="en-US" dirty="0"/>
          </a:p>
          <a:p>
            <a:r>
              <a:rPr lang="es-AR" b="1" dirty="0"/>
              <a:t>CONVERSION: FILTRAR EN CATALOGO </a:t>
            </a:r>
            <a:r>
              <a:rPr lang="es-AR" b="1" dirty="0">
                <a:sym typeface="Wingdings" panose="05000000000000000000" pitchFamily="2" charset="2"/>
              </a:rPr>
              <a:t></a:t>
            </a:r>
            <a:r>
              <a:rPr lang="es-AR" b="1" dirty="0"/>
              <a:t> VALIDACION CON NORMATIVA </a:t>
            </a:r>
            <a:r>
              <a:rPr lang="es-AR" b="1" dirty="0">
                <a:sym typeface="Wingdings" panose="05000000000000000000" pitchFamily="2" charset="2"/>
              </a:rPr>
              <a:t></a:t>
            </a:r>
            <a:r>
              <a:rPr lang="es-AR" b="1" dirty="0"/>
              <a:t> ESTRUCTURACIÓN DE LA RESPUESTA.</a:t>
            </a:r>
            <a:endParaRPr lang="en-US" dirty="0"/>
          </a:p>
          <a:p>
            <a:r>
              <a:rPr lang="es-AR" b="1" dirty="0"/>
              <a:t>SALIDA MENSAJE CLARO INDICANDO ESTADO (“DISPONIBLE ESTANTE N° XX” / “RESERVADO”) O MENSAJE ANTE PERTURBACIONES.</a:t>
            </a:r>
            <a:endParaRPr lang="en-US" dirty="0"/>
          </a:p>
          <a:p>
            <a:r>
              <a:rPr lang="es-AR" b="1" dirty="0"/>
              <a:t> </a:t>
            </a:r>
            <a:endParaRPr lang="en-US" dirty="0"/>
          </a:p>
          <a:p>
            <a:r>
              <a:rPr lang="es-AR" b="1" dirty="0"/>
              <a:t>PERTURBACIONES: </a:t>
            </a:r>
            <a:endParaRPr lang="en-US" dirty="0"/>
          </a:p>
          <a:p>
            <a:pPr lvl="0"/>
            <a:r>
              <a:rPr lang="es-AR" b="1" dirty="0"/>
              <a:t>CAÍDA DE RED DE INTERNET.</a:t>
            </a:r>
            <a:endParaRPr lang="en-US" dirty="0"/>
          </a:p>
          <a:p>
            <a:pPr lvl="0"/>
            <a:r>
              <a:rPr lang="es-AR" b="1" dirty="0"/>
              <a:t>BASE DE DATOS DESACTUALIZADA, ACORDE LA REALIDAD.</a:t>
            </a:r>
            <a:endParaRPr lang="en-US" dirty="0"/>
          </a:p>
          <a:p>
            <a:pPr lvl="0"/>
            <a:r>
              <a:rPr lang="es-AR" b="1" dirty="0"/>
              <a:t>BUSQUEDA CON PARAMETROS MAL EXPRESADOS.</a:t>
            </a:r>
            <a:endParaRPr lang="en-US" dirty="0"/>
          </a:p>
          <a:p>
            <a:r>
              <a:rPr lang="es-AR" dirty="0"/>
              <a:t>CONTROL: AL CAPTAR CUALQUIER PERTURBACIÓN, SE EXPRESA UN MENSAJE.</a:t>
            </a:r>
            <a:endParaRPr lang="en-US" dirty="0"/>
          </a:p>
          <a:p>
            <a:r>
              <a:rPr lang="es-AR" dirty="0"/>
              <a:t> </a:t>
            </a:r>
            <a:endParaRPr lang="en-US" dirty="0"/>
          </a:p>
          <a:p>
            <a:pPr lvl="0"/>
            <a:r>
              <a:rPr lang="es-AR" dirty="0"/>
              <a:t>PREGUNTAS OCURRIDAS:</a:t>
            </a:r>
            <a:endParaRPr lang="en-US" dirty="0"/>
          </a:p>
          <a:p>
            <a:r>
              <a:rPr lang="es-AR" dirty="0"/>
              <a:t>¿DE QUE MANERA SEGURA PUEDE EL AGENTE CONSULTAR LA BASE DE DATOS DEL SISTEMA GENERAL SIN VULNERAR LA PRIVACIDAD DE LOS DATOS PERSONALES DE UN ALUMNO?</a:t>
            </a:r>
            <a:endParaRPr lang="en-US" dirty="0"/>
          </a:p>
          <a:p>
            <a:r>
              <a:rPr lang="es-AR" dirty="0"/>
              <a:t>¿COMO REACCIONARÍA EL AGENTE CUANDO SURJA QUE EL LIBRO SE ENCUENTRE DISPONIBLE PERO EL BIBLIOTECARIO REPORTA QUE NO SE ENCUENTRA EN ESTANTERÍA?</a:t>
            </a:r>
            <a:endParaRPr lang="en-US" dirty="0"/>
          </a:p>
          <a:p>
            <a:r>
              <a:rPr lang="es-AR" dirty="0"/>
              <a:t>¿QUE MECANISMOS DE REGISTRO SE IMPLEMENTARAN PARA QUE EL PERSONAL DE LA BIBLIOTECA PUEDA REVISAR, VALIDAR O CORREGIR LAS RESPUESTAS QUE GENERA EL AGENTE</a:t>
            </a:r>
            <a:r>
              <a:rPr lang="es-AR" dirty="0" smtClean="0"/>
              <a:t>?</a:t>
            </a:r>
            <a:endParaRPr lang="en-US" dirty="0"/>
          </a:p>
        </p:txBody>
      </p:sp>
    </p:spTree>
    <p:extLst>
      <p:ext uri="{BB962C8B-B14F-4D97-AF65-F5344CB8AC3E}">
        <p14:creationId xmlns:p14="http://schemas.microsoft.com/office/powerpoint/2010/main" val="3600530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b="1" dirty="0" smtClean="0"/>
              <a:t>Clase 13: </a:t>
            </a:r>
            <a:r>
              <a:rPr lang="en-US" b="1" dirty="0"/>
              <a:t>El agente de IA </a:t>
            </a:r>
            <a:r>
              <a:rPr lang="en-US" b="1" dirty="0"/>
              <a:t>como</a:t>
            </a:r>
            <a:r>
              <a:rPr lang="en-US" b="1" dirty="0"/>
              <a:t> </a:t>
            </a:r>
            <a:r>
              <a:rPr lang="en-US" b="1" dirty="0" smtClean="0"/>
              <a:t>Sistema</a:t>
            </a:r>
            <a:r>
              <a:rPr lang="en-US" b="1" dirty="0"/>
              <a:t/>
            </a:r>
            <a:br>
              <a:rPr lang="en-US" b="1" dirty="0"/>
            </a:br>
            <a:endParaRPr lang="es-AR" dirty="0"/>
          </a:p>
        </p:txBody>
      </p:sp>
      <p:sp>
        <p:nvSpPr>
          <p:cNvPr id="3" name="Marcador de contenido 2"/>
          <p:cNvSpPr>
            <a:spLocks noGrp="1"/>
          </p:cNvSpPr>
          <p:nvPr>
            <p:ph idx="1"/>
          </p:nvPr>
        </p:nvSpPr>
        <p:spPr>
          <a:xfrm>
            <a:off x="1036320" y="2052918"/>
            <a:ext cx="9013533" cy="4555146"/>
          </a:xfrm>
        </p:spPr>
        <p:txBody>
          <a:bodyPr>
            <a:noAutofit/>
          </a:bodyPr>
          <a:lstStyle/>
          <a:p>
            <a:r>
              <a:rPr lang="es-AR" sz="1400" dirty="0">
                <a:latin typeface="Arial" panose="020B0604020202020204" pitchFamily="34" charset="0"/>
                <a:cs typeface="Arial" panose="020B0604020202020204" pitchFamily="34" charset="0"/>
              </a:rPr>
              <a:t>Preguntas para recuperar producciones anteriores:</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¿Qué problema intentaba resolver el servicio?</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¿Qué diferencia había entre orientar y autorizar una inscripción?</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¿Qué información necesitábamos para responder?</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¿Qué debía ocurrir si faltaban antecedentes o había una excepción?</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El servicio brindaba orientación sobre los libros disponibles en la biblioteca.</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El servicio solo brinda información, no autoriza, modifica, ni crea datos nuevos conforme la base del Sistema General.</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Acceder a la base de datos del Sistema General, mediante autorización a través de una API, la cual nos brinda datos tanto de los libros, autores como </a:t>
            </a:r>
            <a:r>
              <a:rPr lang="es-AR" sz="1400" dirty="0">
                <a:latin typeface="Arial" panose="020B0604020202020204" pitchFamily="34" charset="0"/>
                <a:cs typeface="Arial" panose="020B0604020202020204" pitchFamily="34" charset="0"/>
              </a:rPr>
              <a:t>asi</a:t>
            </a:r>
            <a:r>
              <a:rPr lang="es-AR" sz="1400" dirty="0">
                <a:latin typeface="Arial" panose="020B0604020202020204" pitchFamily="34" charset="0"/>
                <a:cs typeface="Arial" panose="020B0604020202020204" pitchFamily="34" charset="0"/>
              </a:rPr>
              <a:t> también de los usuarios que se encuentran inscriptos.</a:t>
            </a:r>
            <a:endParaRPr lang="en-US" sz="1400" dirty="0">
              <a:latin typeface="Arial" panose="020B0604020202020204" pitchFamily="34" charset="0"/>
              <a:cs typeface="Arial" panose="020B0604020202020204" pitchFamily="34" charset="0"/>
            </a:endParaRPr>
          </a:p>
          <a:p>
            <a:pPr lvl="0"/>
            <a:r>
              <a:rPr lang="es-AR" sz="1400" dirty="0">
                <a:latin typeface="Arial" panose="020B0604020202020204" pitchFamily="34" charset="0"/>
                <a:cs typeface="Arial" panose="020B0604020202020204" pitchFamily="34" charset="0"/>
              </a:rPr>
              <a:t>Ante una excepción o problema, el asistente informa a el bibliotecario a cargo, e informa al usuario que debe recurrir a la persona a cargo para resolver el inconveniente</a:t>
            </a:r>
            <a:r>
              <a:rPr lang="es-AR"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5802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41248" y="219456"/>
            <a:ext cx="9208605" cy="6028943"/>
          </a:xfrm>
        </p:spPr>
        <p:txBody>
          <a:bodyPr>
            <a:normAutofit fontScale="85000" lnSpcReduction="10000"/>
          </a:bodyPr>
          <a:lstStyle/>
          <a:p>
            <a:r>
              <a:rPr lang="es-AR" b="1" dirty="0"/>
              <a:t>ASISTENTE DE CONSULTA DE BIBLIOTECA</a:t>
            </a:r>
            <a:endParaRPr lang="en-US" dirty="0"/>
          </a:p>
          <a:p>
            <a:r>
              <a:rPr lang="es-AR" dirty="0"/>
              <a:t>A</a:t>
            </a:r>
            <a:r>
              <a:rPr lang="es-AR" b="1" dirty="0"/>
              <a:t>sistente de consulta de biblioteca</a:t>
            </a:r>
            <a:r>
              <a:rPr lang="es-AR" dirty="0"/>
              <a:t> conectado a un archivo Excel que funciona como base de datos, su función es </a:t>
            </a:r>
            <a:r>
              <a:rPr lang="es-AR" b="1" dirty="0"/>
              <a:t>consultar la información disponible en el archivo Excel y brindar respuestas claras al usuario</a:t>
            </a:r>
            <a:r>
              <a:rPr lang="es-AR" dirty="0"/>
              <a:t>, no tiene privilegio ni acceso a las siguientes operaciones:</a:t>
            </a:r>
            <a:endParaRPr lang="en-US" dirty="0"/>
          </a:p>
          <a:p>
            <a:pPr lvl="0"/>
            <a:r>
              <a:rPr lang="en-US" dirty="0"/>
              <a:t>Crear</a:t>
            </a:r>
            <a:r>
              <a:rPr lang="en-US" dirty="0"/>
              <a:t> </a:t>
            </a:r>
            <a:r>
              <a:rPr lang="en-US" dirty="0"/>
              <a:t>registros</a:t>
            </a:r>
            <a:r>
              <a:rPr lang="en-US" dirty="0"/>
              <a:t>.</a:t>
            </a:r>
          </a:p>
          <a:p>
            <a:pPr lvl="0"/>
            <a:r>
              <a:rPr lang="en-US" dirty="0"/>
              <a:t>Modificar</a:t>
            </a:r>
            <a:r>
              <a:rPr lang="en-US" dirty="0"/>
              <a:t> </a:t>
            </a:r>
            <a:r>
              <a:rPr lang="en-US" dirty="0"/>
              <a:t>registros</a:t>
            </a:r>
            <a:r>
              <a:rPr lang="en-US" dirty="0"/>
              <a:t>.</a:t>
            </a:r>
          </a:p>
          <a:p>
            <a:pPr lvl="0"/>
            <a:r>
              <a:rPr lang="en-US" dirty="0"/>
              <a:t>Eliminar</a:t>
            </a:r>
            <a:r>
              <a:rPr lang="en-US" dirty="0"/>
              <a:t> </a:t>
            </a:r>
            <a:r>
              <a:rPr lang="en-US" dirty="0"/>
              <a:t>registros</a:t>
            </a:r>
            <a:r>
              <a:rPr lang="en-US" dirty="0"/>
              <a:t>.</a:t>
            </a:r>
          </a:p>
          <a:p>
            <a:pPr lvl="0"/>
            <a:r>
              <a:rPr lang="en-US" dirty="0"/>
              <a:t>Cambiar</a:t>
            </a:r>
            <a:r>
              <a:rPr lang="en-US" dirty="0"/>
              <a:t> </a:t>
            </a:r>
            <a:r>
              <a:rPr lang="en-US" dirty="0"/>
              <a:t>estados</a:t>
            </a:r>
            <a:r>
              <a:rPr lang="en-US" dirty="0"/>
              <a:t> de </a:t>
            </a:r>
            <a:r>
              <a:rPr lang="en-US" dirty="0"/>
              <a:t>libros</a:t>
            </a:r>
            <a:r>
              <a:rPr lang="en-US" dirty="0"/>
              <a:t>.</a:t>
            </a:r>
          </a:p>
          <a:p>
            <a:pPr lvl="0"/>
            <a:r>
              <a:rPr lang="en-US" dirty="0"/>
              <a:t>Registrar </a:t>
            </a:r>
            <a:r>
              <a:rPr lang="en-US" dirty="0"/>
              <a:t>préstamos</a:t>
            </a:r>
            <a:r>
              <a:rPr lang="en-US" dirty="0"/>
              <a:t>.</a:t>
            </a:r>
          </a:p>
          <a:p>
            <a:pPr lvl="0"/>
            <a:r>
              <a:rPr lang="en-US" dirty="0"/>
              <a:t>Registrar </a:t>
            </a:r>
            <a:r>
              <a:rPr lang="en-US" dirty="0"/>
              <a:t>reservas</a:t>
            </a:r>
            <a:r>
              <a:rPr lang="en-US" dirty="0"/>
              <a:t>.</a:t>
            </a:r>
          </a:p>
          <a:p>
            <a:pPr lvl="0"/>
            <a:r>
              <a:rPr lang="en-US" dirty="0"/>
              <a:t>Registrar </a:t>
            </a:r>
            <a:r>
              <a:rPr lang="en-US" dirty="0"/>
              <a:t>usuarios</a:t>
            </a:r>
            <a:r>
              <a:rPr lang="en-US" dirty="0"/>
              <a:t>.</a:t>
            </a:r>
          </a:p>
          <a:p>
            <a:pPr lvl="0"/>
            <a:r>
              <a:rPr lang="es-AR" dirty="0"/>
              <a:t>Modificar datos de alumnos/usuarios.</a:t>
            </a:r>
            <a:endParaRPr lang="en-US" dirty="0"/>
          </a:p>
          <a:p>
            <a:pPr lvl="0"/>
            <a:r>
              <a:rPr lang="es-AR" dirty="0"/>
              <a:t>Inventar información que no esté presente en el Excel.</a:t>
            </a:r>
            <a:endParaRPr lang="en-US" dirty="0"/>
          </a:p>
          <a:p>
            <a:pPr lvl="0"/>
            <a:r>
              <a:rPr lang="es-AR" dirty="0"/>
              <a:t>Suponer que un libro está disponible si no existe información que lo confirme.</a:t>
            </a:r>
            <a:endParaRPr lang="en-US" dirty="0"/>
          </a:p>
          <a:p>
            <a:pPr lvl="0"/>
            <a:r>
              <a:rPr lang="en-US" dirty="0"/>
              <a:t>Realizar</a:t>
            </a:r>
            <a:r>
              <a:rPr lang="en-US" dirty="0"/>
              <a:t> </a:t>
            </a:r>
            <a:r>
              <a:rPr lang="en-US" dirty="0"/>
              <a:t>operaciones</a:t>
            </a:r>
            <a:r>
              <a:rPr lang="en-US" dirty="0"/>
              <a:t> </a:t>
            </a:r>
            <a:r>
              <a:rPr lang="en-US" dirty="0"/>
              <a:t>administrativas</a:t>
            </a:r>
            <a:r>
              <a:rPr lang="en-US" dirty="0"/>
              <a:t>.</a:t>
            </a:r>
          </a:p>
          <a:p>
            <a:r>
              <a:rPr lang="es-AR" dirty="0"/>
              <a:t>El archivo Excel debe considerarse una </a:t>
            </a:r>
            <a:r>
              <a:rPr lang="es-AR" b="1" dirty="0"/>
              <a:t>fuente de información de solo lectura</a:t>
            </a:r>
            <a:r>
              <a:rPr lang="es-AR" dirty="0"/>
              <a:t>.</a:t>
            </a:r>
            <a:endParaRPr lang="es-AR" dirty="0"/>
          </a:p>
        </p:txBody>
      </p:sp>
    </p:spTree>
    <p:extLst>
      <p:ext uri="{BB962C8B-B14F-4D97-AF65-F5344CB8AC3E}">
        <p14:creationId xmlns:p14="http://schemas.microsoft.com/office/powerpoint/2010/main" val="12706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b="1" dirty="0" smtClean="0"/>
              <a:t>Del modelo al prototipo</a:t>
            </a:r>
            <a:endParaRPr lang="es-AR" b="1" dirty="0"/>
          </a:p>
        </p:txBody>
      </p:sp>
      <p:sp>
        <p:nvSpPr>
          <p:cNvPr id="3" name="Marcador de contenido 2"/>
          <p:cNvSpPr>
            <a:spLocks noGrp="1"/>
          </p:cNvSpPr>
          <p:nvPr>
            <p:ph idx="1"/>
          </p:nvPr>
        </p:nvSpPr>
        <p:spPr/>
        <p:txBody>
          <a:bodyPr/>
          <a:lstStyle/>
          <a:p>
            <a:r>
              <a:rPr lang="en-US" dirty="0" smtClean="0">
                <a:hlinkClick r:id="rId2"/>
              </a:rPr>
              <a:t>VER PROTOTIPO DE AGENTE IA</a:t>
            </a:r>
            <a:endParaRPr lang="en-US" dirty="0"/>
          </a:p>
        </p:txBody>
      </p:sp>
    </p:spTree>
    <p:extLst>
      <p:ext uri="{BB962C8B-B14F-4D97-AF65-F5344CB8AC3E}">
        <p14:creationId xmlns:p14="http://schemas.microsoft.com/office/powerpoint/2010/main" val="761153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06944" y="1708494"/>
            <a:ext cx="9403742" cy="4204626"/>
          </a:xfrm>
        </p:spPr>
        <p:txBody>
          <a:bodyPr/>
          <a:lstStyle/>
          <a:p>
            <a:pPr algn="just"/>
            <a:r>
              <a:rPr lang="en-US" b="1" dirty="0"/>
              <a:t>Del agente de IA a </a:t>
            </a:r>
            <a:r>
              <a:rPr lang="en-US" b="1" dirty="0"/>
              <a:t>sus</a:t>
            </a:r>
            <a:r>
              <a:rPr lang="en-US" b="1" dirty="0"/>
              <a:t> </a:t>
            </a:r>
            <a:r>
              <a:rPr lang="en-US" b="1" dirty="0" smtClean="0"/>
              <a:t>diagramas</a:t>
            </a:r>
            <a:r>
              <a:rPr lang="en-US" b="1" dirty="0" smtClean="0"/>
              <a:t>, </a:t>
            </a:r>
            <a:r>
              <a:rPr lang="en-US" b="1" dirty="0"/>
              <a:t>Secuencia</a:t>
            </a:r>
            <a:r>
              <a:rPr lang="en-US" b="1" dirty="0"/>
              <a:t>, </a:t>
            </a:r>
            <a:r>
              <a:rPr lang="en-US" b="1" dirty="0"/>
              <a:t>reglas</a:t>
            </a:r>
            <a:r>
              <a:rPr lang="en-US" b="1" dirty="0"/>
              <a:t> y </a:t>
            </a:r>
            <a:r>
              <a:rPr lang="en-US" b="1" dirty="0" smtClean="0"/>
              <a:t>control</a:t>
            </a:r>
            <a:br>
              <a:rPr lang="en-US" b="1" dirty="0" smtClean="0"/>
            </a:br>
            <a:r>
              <a:rPr lang="es-ES" b="1" dirty="0"/>
              <a:t>Integración y preparación del trabajo final</a:t>
            </a:r>
            <a:br>
              <a:rPr lang="es-ES" b="1" dirty="0"/>
            </a:br>
            <a:r>
              <a:rPr lang="es-ES" dirty="0"/>
              <a:t/>
            </a:r>
            <a:br>
              <a:rPr lang="es-ES" dirty="0"/>
            </a:br>
            <a:r>
              <a:rPr lang="en-US" b="1" dirty="0"/>
              <a:t/>
            </a:r>
            <a:br>
              <a:rPr lang="en-US" b="1" dirty="0"/>
            </a:br>
            <a:endParaRPr lang="en-US" b="1" dirty="0"/>
          </a:p>
        </p:txBody>
      </p:sp>
    </p:spTree>
    <p:extLst>
      <p:ext uri="{BB962C8B-B14F-4D97-AF65-F5344CB8AC3E}">
        <p14:creationId xmlns:p14="http://schemas.microsoft.com/office/powerpoint/2010/main" val="283516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103312" y="768096"/>
            <a:ext cx="8946541" cy="5480303"/>
          </a:xfrm>
        </p:spPr>
        <p:txBody>
          <a:bodyPr/>
          <a:lstStyle/>
          <a:p>
            <a:r>
              <a:rPr lang="es-AR" dirty="0"/>
              <a:t>El problema que atiende mi agente es asistir a estudiantes inscriptos en una biblioteca a encontrar libros más rápido y sin requerimiento de una persona.</a:t>
            </a:r>
            <a:endParaRPr lang="en-US" dirty="0"/>
          </a:p>
          <a:p>
            <a:r>
              <a:rPr lang="es-AR" dirty="0"/>
              <a:t>Los usuarios serían alumnos que van a estudiar a la biblioteca</a:t>
            </a:r>
            <a:r>
              <a:rPr lang="es-AR" dirty="0" smtClean="0"/>
              <a:t>.</a:t>
            </a:r>
            <a:r>
              <a:rPr lang="es-AR" dirty="0"/>
              <a:t> </a:t>
            </a:r>
            <a:endParaRPr lang="en-US" dirty="0"/>
          </a:p>
          <a:p>
            <a:r>
              <a:rPr lang="es-AR" b="1" dirty="0"/>
              <a:t>DIAGRAMA DE </a:t>
            </a:r>
            <a:r>
              <a:rPr lang="es-AR" b="1" dirty="0" smtClean="0"/>
              <a:t>CONTEXTO</a:t>
            </a:r>
            <a:endParaRPr lang="en-US" b="1" dirty="0"/>
          </a:p>
          <a:p>
            <a:endParaRPr lang="en-US" dirty="0"/>
          </a:p>
        </p:txBody>
      </p:sp>
      <p:pic>
        <p:nvPicPr>
          <p:cNvPr id="7" name="Imagen 6"/>
          <p:cNvPicPr/>
          <p:nvPr/>
        </p:nvPicPr>
        <p:blipFill>
          <a:blip r:embed="rId2">
            <a:extLst>
              <a:ext uri="{28A0092B-C50C-407E-A947-70E740481C1C}">
                <a14:useLocalDpi xmlns:a14="http://schemas.microsoft.com/office/drawing/2010/main" val="0"/>
              </a:ext>
            </a:extLst>
          </a:blip>
          <a:stretch>
            <a:fillRect/>
          </a:stretch>
        </p:blipFill>
        <p:spPr>
          <a:xfrm>
            <a:off x="1666988" y="2873908"/>
            <a:ext cx="7819188" cy="3222092"/>
          </a:xfrm>
          <a:prstGeom prst="rect">
            <a:avLst/>
          </a:prstGeom>
        </p:spPr>
      </p:pic>
    </p:spTree>
    <p:extLst>
      <p:ext uri="{BB962C8B-B14F-4D97-AF65-F5344CB8AC3E}">
        <p14:creationId xmlns:p14="http://schemas.microsoft.com/office/powerpoint/2010/main" val="2538741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65632" y="353568"/>
            <a:ext cx="9184221" cy="5894831"/>
          </a:xfrm>
        </p:spPr>
        <p:txBody>
          <a:bodyPr>
            <a:normAutofit fontScale="92500" lnSpcReduction="10000"/>
          </a:bodyPr>
          <a:lstStyle/>
          <a:p>
            <a:r>
              <a:rPr lang="es-AR" b="1" dirty="0"/>
              <a:t>ESPECIFICACIÓN DE CASOS DE USO</a:t>
            </a:r>
            <a:endParaRPr lang="en-US" sz="1800" dirty="0"/>
          </a:p>
          <a:p>
            <a:r>
              <a:rPr lang="es-AR" b="1" dirty="0"/>
              <a:t>&lt;CONSULTAR POR LIBRO&gt;</a:t>
            </a:r>
            <a:endParaRPr lang="en-US" sz="1800" dirty="0"/>
          </a:p>
          <a:p>
            <a:pPr lvl="0"/>
            <a:r>
              <a:rPr lang="es-AR" b="1" dirty="0"/>
              <a:t>DESCRIPCIÓN: </a:t>
            </a:r>
            <a:r>
              <a:rPr lang="es-AR" dirty="0"/>
              <a:t>Permite que un estudiante consulte por un libro de la biblioteca.</a:t>
            </a:r>
            <a:endParaRPr lang="en-US" sz="1800" dirty="0"/>
          </a:p>
          <a:p>
            <a:pPr lvl="0"/>
            <a:r>
              <a:rPr lang="es-AR" b="1" dirty="0"/>
              <a:t>ACTORES:</a:t>
            </a:r>
            <a:r>
              <a:rPr lang="es-AR" dirty="0"/>
              <a:t> Estudiante.</a:t>
            </a:r>
            <a:endParaRPr lang="en-US" sz="1800" dirty="0"/>
          </a:p>
          <a:p>
            <a:pPr lvl="0"/>
            <a:r>
              <a:rPr lang="es-AR" b="1" dirty="0"/>
              <a:t>PRE-CONDICIONES: </a:t>
            </a:r>
            <a:r>
              <a:rPr lang="es-AR" dirty="0"/>
              <a:t>El estudiante previo a realizar la búsqueda deberá indicar su número de DNI.</a:t>
            </a:r>
            <a:endParaRPr lang="en-US" sz="1800" dirty="0"/>
          </a:p>
          <a:p>
            <a:pPr lvl="0"/>
            <a:r>
              <a:rPr lang="es-AR" b="1" dirty="0"/>
              <a:t>POST-CONDICIONES: </a:t>
            </a:r>
            <a:r>
              <a:rPr lang="es-AR" dirty="0"/>
              <a:t>Búsqueda realizada.</a:t>
            </a:r>
            <a:endParaRPr lang="en-US" sz="1800" dirty="0"/>
          </a:p>
          <a:p>
            <a:pPr lvl="0"/>
            <a:r>
              <a:rPr lang="es-AR" b="1" dirty="0"/>
              <a:t>FLUJO DE EVENTOS.</a:t>
            </a:r>
            <a:endParaRPr lang="en-US" sz="1800" dirty="0"/>
          </a:p>
          <a:p>
            <a:r>
              <a:rPr lang="es-AR" b="1" dirty="0"/>
              <a:t> </a:t>
            </a:r>
            <a:endParaRPr lang="en-US" sz="1800" dirty="0"/>
          </a:p>
          <a:p>
            <a:pPr lvl="3"/>
            <a:r>
              <a:rPr lang="es-AR" b="1" dirty="0"/>
              <a:t>FLUJO PRINCIPAL</a:t>
            </a:r>
            <a:endParaRPr lang="en-US" sz="1200" dirty="0"/>
          </a:p>
          <a:p>
            <a:r>
              <a:rPr lang="es-AR" dirty="0"/>
              <a:t>P1. El flujo de eventos principal se inicia cuando un Estudiante entra en el Sistema con su N° de DNI y libro o autor.</a:t>
            </a:r>
            <a:endParaRPr lang="en-US" sz="1800" dirty="0"/>
          </a:p>
          <a:p>
            <a:r>
              <a:rPr lang="es-AR" dirty="0"/>
              <a:t>P2. El Asistente Bibliotecario toma los datos y envía la consulta al Sistema Gral. de la Biblioteca.</a:t>
            </a:r>
            <a:endParaRPr lang="en-US" sz="1800" dirty="0"/>
          </a:p>
          <a:p>
            <a:r>
              <a:rPr lang="es-AR" dirty="0"/>
              <a:t>P3. El Sistema Gral. verifica los datos, si el alumno se encuentra en la base de datos se realiza la búsqueda del libro o autor solicitado. </a:t>
            </a:r>
            <a:endParaRPr lang="en-US" sz="1800" dirty="0"/>
          </a:p>
        </p:txBody>
      </p:sp>
    </p:spTree>
    <p:extLst>
      <p:ext uri="{BB962C8B-B14F-4D97-AF65-F5344CB8AC3E}">
        <p14:creationId xmlns:p14="http://schemas.microsoft.com/office/powerpoint/2010/main" val="3168783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r>
              <a:rPr lang="es-AR" dirty="0"/>
              <a:t>P4. Si el usuario se encuentra inscripto y el Libro se encuentra Disponible, el Sistema Gral. informará al Asistente y este último responderá al estudiante con un mensaje “El libro XX se encuentra en Fila N° XX”.</a:t>
            </a:r>
            <a:endParaRPr lang="en-US" sz="1800" dirty="0"/>
          </a:p>
          <a:p>
            <a:r>
              <a:rPr lang="es-AR" b="1" dirty="0"/>
              <a:t> </a:t>
            </a:r>
            <a:endParaRPr lang="en-US" sz="1800" dirty="0"/>
          </a:p>
          <a:p>
            <a:pPr lvl="3"/>
            <a:r>
              <a:rPr lang="es-AR" b="1" dirty="0"/>
              <a:t>FLUJOS DE EXCEPCIÓN</a:t>
            </a:r>
            <a:endParaRPr lang="en-US" sz="1200" dirty="0"/>
          </a:p>
          <a:p>
            <a:pPr lvl="0"/>
            <a:r>
              <a:rPr lang="es-AR" dirty="0"/>
              <a:t>E1. Si el usuario no se encuentra en la base de datos, el Sistema Gral. informa al asistente. El asistente informa al estudiante que deberá acercarse a la mesa de ayuda para registrarse.</a:t>
            </a:r>
            <a:endParaRPr lang="en-US" sz="1800" dirty="0"/>
          </a:p>
          <a:p>
            <a:r>
              <a:rPr lang="es-AR" dirty="0"/>
              <a:t>EL SISTEMA RETORNA AL PASO 1 (P1) DEL FLUJO PRINCIPAL.</a:t>
            </a:r>
            <a:endParaRPr lang="es-AR" dirty="0"/>
          </a:p>
        </p:txBody>
      </p:sp>
    </p:spTree>
    <p:extLst>
      <p:ext uri="{BB962C8B-B14F-4D97-AF65-F5344CB8AC3E}">
        <p14:creationId xmlns:p14="http://schemas.microsoft.com/office/powerpoint/2010/main" val="2273139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82752" y="195072"/>
            <a:ext cx="9367101" cy="6053327"/>
          </a:xfrm>
        </p:spPr>
        <p:txBody>
          <a:bodyPr/>
          <a:lstStyle/>
          <a:p>
            <a:pPr lvl="1"/>
            <a:r>
              <a:rPr lang="es-AR" dirty="0"/>
              <a:t>E2. Si el usuario se encuentra inscripto, pero no se encuentra el libro por que se encuentra “Reservado”, “Ocupado”, o no se hallan datos del mismo. El Sistema Gral. informará al Asistente, y este último Responderá con, “Libro Reservado”, “Libro Ocupado”, o no se hallan datos para su búsqueda.</a:t>
            </a:r>
            <a:endParaRPr lang="en-US" sz="1600" dirty="0"/>
          </a:p>
          <a:p>
            <a:pPr lvl="5"/>
            <a:r>
              <a:rPr lang="es-AR" dirty="0"/>
              <a:t>EL SISTEMA RETORNA AL PASO 1 (P1) DEL FLUJO PRINCIPAL</a:t>
            </a:r>
            <a:r>
              <a:rPr lang="es-AR" dirty="0" smtClean="0"/>
              <a:t>.</a:t>
            </a:r>
          </a:p>
          <a:p>
            <a:pPr lvl="5"/>
            <a:endParaRPr lang="es-AR" sz="1200" dirty="0"/>
          </a:p>
          <a:p>
            <a:pPr marL="2277400" lvl="5" indent="0">
              <a:buNone/>
            </a:pPr>
            <a:r>
              <a:rPr lang="es-AR" b="1" dirty="0" smtClean="0"/>
              <a:t>			DIAGRAMA </a:t>
            </a:r>
            <a:r>
              <a:rPr lang="es-AR" b="1" dirty="0"/>
              <a:t>DE CASO DE USO</a:t>
            </a:r>
            <a:endParaRPr lang="en-US" dirty="0"/>
          </a:p>
          <a:p>
            <a:pPr lvl="5"/>
            <a:endParaRPr lang="en-US" sz="1200" dirty="0"/>
          </a:p>
        </p:txBody>
      </p:sp>
      <p:pic>
        <p:nvPicPr>
          <p:cNvPr id="4" name="Imagen 3"/>
          <p:cNvPicPr/>
          <p:nvPr/>
        </p:nvPicPr>
        <p:blipFill>
          <a:blip r:embed="rId2">
            <a:extLst>
              <a:ext uri="{28A0092B-C50C-407E-A947-70E740481C1C}">
                <a14:useLocalDpi xmlns:a14="http://schemas.microsoft.com/office/drawing/2010/main" val="0"/>
              </a:ext>
            </a:extLst>
          </a:blip>
          <a:stretch>
            <a:fillRect/>
          </a:stretch>
        </p:blipFill>
        <p:spPr>
          <a:xfrm>
            <a:off x="2051602" y="2683573"/>
            <a:ext cx="6629400" cy="2051685"/>
          </a:xfrm>
          <a:prstGeom prst="rect">
            <a:avLst/>
          </a:prstGeom>
        </p:spPr>
      </p:pic>
    </p:spTree>
    <p:extLst>
      <p:ext uri="{BB962C8B-B14F-4D97-AF65-F5344CB8AC3E}">
        <p14:creationId xmlns:p14="http://schemas.microsoft.com/office/powerpoint/2010/main" val="2635592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dirty="0"/>
          </a:p>
        </p:txBody>
      </p:sp>
      <p:pic>
        <p:nvPicPr>
          <p:cNvPr id="4" name="Marcador de contenido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000250" y="2374106"/>
            <a:ext cx="7153275" cy="3552825"/>
          </a:xfrm>
          <a:prstGeom prst="rect">
            <a:avLst/>
          </a:prstGeom>
        </p:spPr>
      </p:pic>
    </p:spTree>
    <p:extLst>
      <p:ext uri="{BB962C8B-B14F-4D97-AF65-F5344CB8AC3E}">
        <p14:creationId xmlns:p14="http://schemas.microsoft.com/office/powerpoint/2010/main" val="4112541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p:cNvPicPr>
            <a:picLocks noGrp="1" noChangeAspect="1"/>
          </p:cNvPicPr>
          <p:nvPr>
            <p:ph idx="1"/>
          </p:nvPr>
        </p:nvPicPr>
        <p:blipFill>
          <a:blip r:embed="rId2"/>
          <a:stretch>
            <a:fillRect/>
          </a:stretch>
        </p:blipFill>
        <p:spPr>
          <a:xfrm>
            <a:off x="1221622" y="463958"/>
            <a:ext cx="8422249" cy="5900266"/>
          </a:xfrm>
          <a:prstGeom prst="rect">
            <a:avLst/>
          </a:prstGeom>
        </p:spPr>
      </p:pic>
    </p:spTree>
    <p:extLst>
      <p:ext uri="{BB962C8B-B14F-4D97-AF65-F5344CB8AC3E}">
        <p14:creationId xmlns:p14="http://schemas.microsoft.com/office/powerpoint/2010/main" val="5856081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42</TotalTime>
  <Words>848</Words>
  <Application>Microsoft Office PowerPoint</Application>
  <PresentationFormat>Panorámica</PresentationFormat>
  <Paragraphs>95</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Century Gothic</vt:lpstr>
      <vt:lpstr>Wingdings</vt:lpstr>
      <vt:lpstr>Wingdings 3</vt:lpstr>
      <vt:lpstr>Ion</vt:lpstr>
      <vt:lpstr>AGENTE BIBLIOTECARIO IA</vt:lpstr>
      <vt:lpstr>AVANCE DEL PROYECTO POR ETAPAS Y CLASES</vt:lpstr>
      <vt:lpstr>Clase 12 Del Sistema al agente de IA </vt:lpstr>
      <vt:lpstr>Modelo: Agente de Asistencia de Biblioteca Estudiantil</vt:lpstr>
      <vt:lpstr>Presentación de PowerPoint</vt:lpstr>
      <vt:lpstr>Presentación de PowerPoint</vt:lpstr>
      <vt:lpstr>Presentación de PowerPoint</vt:lpstr>
      <vt:lpstr>Clase 13: El agente de IA como Sistema </vt:lpstr>
      <vt:lpstr>Presentación de PowerPoint</vt:lpstr>
      <vt:lpstr>Del modelo al prototipo</vt:lpstr>
      <vt:lpstr>Del agente de IA a sus diagramas, Secuencia, reglas y control Integración y preparación del trabajo final   </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BIBLIOTECARIO IA</dc:title>
  <dc:creator>Ezequiel</dc:creator>
  <cp:lastModifiedBy>Ezequiel</cp:lastModifiedBy>
  <cp:revision>7</cp:revision>
  <dcterms:created xsi:type="dcterms:W3CDTF">2026-10-28T16:31:28Z</dcterms:created>
  <dcterms:modified xsi:type="dcterms:W3CDTF">2026-10-28T17:14:17Z</dcterms:modified>
</cp:coreProperties>
</file>